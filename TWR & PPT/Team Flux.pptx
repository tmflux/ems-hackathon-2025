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68" r:id="rId4"/>
    <p:sldId id="270" r:id="rId5"/>
    <p:sldId id="269" r:id="rId6"/>
    <p:sldId id="271" r:id="rId7"/>
    <p:sldId id="281" r:id="rId8"/>
    <p:sldId id="272" r:id="rId9"/>
    <p:sldId id="259" r:id="rId10"/>
    <p:sldId id="261" r:id="rId11"/>
    <p:sldId id="262" r:id="rId12"/>
    <p:sldId id="280" r:id="rId13"/>
    <p:sldId id="283" r:id="rId14"/>
    <p:sldId id="282" r:id="rId15"/>
    <p:sldId id="273" r:id="rId16"/>
    <p:sldId id="276" r:id="rId17"/>
    <p:sldId id="277" r:id="rId18"/>
    <p:sldId id="278" r:id="rId19"/>
    <p:sldId id="279" r:id="rId20"/>
    <p:sldId id="26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A8862-FC7A-4227-B319-BE898A55E33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A9224-59BE-4773-A844-8CD16EB57A7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kaggle.com/datasets/anikannal/solar-power-generation-data" TargetMode="External"/><Relationship Id="rId1" Type="http://schemas.openxmlformats.org/officeDocument/2006/relationships/hyperlink" Target="https://data.mendeley.com/datasets/y58jknpgs8/2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1350"/>
            <a:ext cx="10515600" cy="2219325"/>
          </a:xfrm>
        </p:spPr>
        <p:txBody>
          <a:bodyPr>
            <a:normAutofit/>
          </a:bodyPr>
          <a:p>
            <a:pPr algn="ctr"/>
            <a:r>
              <a:rPr lang="en-US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Next-Gen EMS: Smart Energy Management System (EMS) with Real-Time Monitoring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83255"/>
            <a:ext cx="10515600" cy="3366770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Team 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Flux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VidyutAI Hackathon 2025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October 04th-05th 2025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785" y="3639185"/>
            <a:ext cx="1408430" cy="1499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team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Parth Thorat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Himani Prajapati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Aditi Jadav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marL="571500" indent="-571500">
              <a:buFont typeface="Wingdings" panose="05000000000000000000" charset="0"/>
              <a:buChar char="v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Challenge: Modern Energy Management </a:t>
            </a:r>
            <a:r>
              <a:rPr lang="en-US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Volatile Generation: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Solar/Wind fluctuations cause voltage &amp; frequency issues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 Load Stress: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Unpredictable charging peaks strain local grids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Diagnostic Complexity: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Hard to identify faults in inverters, motors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Reactive Approach: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Lack of visibility forces emergency fixes instead of preventive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Why It's Worthy of Solving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Critical for mass adoption of renewables and EVs.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Prevents costly grid failures and blackouts.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costs and carbon footprint for microgrids.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Moves the energy sector from reactive firefighting to intelligent, predictive control.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I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Our Solution: </a:t>
            </a:r>
            <a:r>
              <a:rPr lang="en-IN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VidyutAI</a:t>
            </a:r>
            <a:r>
              <a:rPr lang="en-I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Smart </a:t>
            </a:r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Live dashboards for all subsystems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Smart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Diagnostics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Health indices &amp; plain-English fault predictions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Proactive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Actionable recommendations, not just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warnings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AI-Driven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RL-powered scheduling for cost &amp; emission savings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4320"/>
            <a:ext cx="10515600" cy="4090670"/>
          </a:xfrm>
        </p:spPr>
        <p:txBody>
          <a:bodyPr>
            <a:normAutofit fontScale="25000"/>
          </a:bodyPr>
          <a:p>
            <a:pPr>
              <a:lnSpc>
                <a:spcPct val="100000"/>
              </a:lnSpc>
            </a:pPr>
            <a:r>
              <a:rPr lang="en-US" altLang="en-US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1: Solar Power Generation Data</a:t>
            </a:r>
            <a:endParaRPr lang="en-US" altLang="en-US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960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altLang="en-US" sz="9600">
                <a:latin typeface="Times New Roman" panose="02020603050405020304" pitchFamily="18" charset="0"/>
                <a:cs typeface="Times New Roman" panose="02020603050405020304" pitchFamily="18" charset="0"/>
                <a:hlinkClick r:id="rId1" tooltip="" action="ppaction://hlinkfile"/>
              </a:rPr>
              <a:t>Kaggle | Anikannal Solar Power</a:t>
            </a: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9600">
                <a:latin typeface="Times New Roman" panose="02020603050405020304" pitchFamily="18" charset="0"/>
                <a:cs typeface="Times New Roman" panose="02020603050405020304" pitchFamily="18" charset="0"/>
              </a:rPr>
              <a:t>Content: Historical solar generation data from multiple plants</a:t>
            </a: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2: Comprehensive Energy Management Data</a:t>
            </a:r>
            <a:endParaRPr lang="en-US" altLang="en-US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960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altLang="en-US" sz="9600">
                <a:latin typeface="Times New Roman" panose="02020603050405020304" pitchFamily="18" charset="0"/>
                <a:cs typeface="Times New Roman" panose="02020603050405020304" pitchFamily="18" charset="0"/>
                <a:hlinkClick r:id="rId2" tooltip="" action="ppaction://hlinkfile"/>
              </a:rPr>
              <a:t>Mendeley | Smart energy systems dataset</a:t>
            </a: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9600">
                <a:latin typeface="Times New Roman" panose="02020603050405020304" pitchFamily="18" charset="0"/>
                <a:cs typeface="Times New Roman" panose="02020603050405020304" pitchFamily="18" charset="0"/>
              </a:rPr>
              <a:t>Content: Multi-parameter data (load, generation, storage, weather)</a:t>
            </a: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en-US" sz="9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Technical Aspects &amp; Feasibility of Solution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/>
        </p:nvSpPr>
        <p:spPr>
          <a:xfrm>
            <a:off x="838200" y="1605915"/>
            <a:ext cx="508571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/Fast API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(Influx DB)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(Docker)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Frontend Dashboard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Framework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(React JS)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Visualization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(Linechart)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UI Library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(Bootstrap)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9" y="1102408"/>
            <a:ext cx="11545368" cy="40507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22213" y="5577336"/>
            <a:ext cx="30747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1: Real-Time </a:t>
            </a:r>
            <a:r>
              <a:rPr lang="en-I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" t="4139" r="1862" b="3623"/>
          <a:stretch>
            <a:fillRect/>
          </a:stretch>
        </p:blipFill>
        <p:spPr>
          <a:xfrm>
            <a:off x="1187450" y="579755"/>
            <a:ext cx="9692005" cy="54933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77132" y="6072992"/>
            <a:ext cx="343154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US" alt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RL </a:t>
            </a:r>
            <a:r>
              <a:rPr lang="en-I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Scheduler Decision Flow</a:t>
            </a:r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" t="4426" r="4399" b="6849"/>
          <a:stretch>
            <a:fillRect/>
          </a:stretch>
        </p:blipFill>
        <p:spPr>
          <a:xfrm>
            <a:off x="1463040" y="665480"/>
            <a:ext cx="9920605" cy="5392420"/>
          </a:xfrm>
        </p:spPr>
      </p:pic>
      <p:sp>
        <p:nvSpPr>
          <p:cNvPr id="5" name="Rectangle 4"/>
          <p:cNvSpPr/>
          <p:nvPr/>
        </p:nvSpPr>
        <p:spPr>
          <a:xfrm>
            <a:off x="4265946" y="6115721"/>
            <a:ext cx="36245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US" alt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Alert </a:t>
            </a:r>
            <a:r>
              <a:rPr lang="en-I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Advisory System Flow</a:t>
            </a:r>
            <a:endParaRPr lang="en-IN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Live Demo - Unified Dashboard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1900" y="1433195"/>
            <a:ext cx="4008120" cy="2460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580" y="1433195"/>
            <a:ext cx="3822065" cy="2460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" y="4138295"/>
            <a:ext cx="4008120" cy="26168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b="27065"/>
          <a:stretch>
            <a:fillRect/>
          </a:stretch>
        </p:blipFill>
        <p:spPr>
          <a:xfrm>
            <a:off x="7053580" y="4138295"/>
            <a:ext cx="3811270" cy="26168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95580" y="2355215"/>
            <a:ext cx="81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Solar 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74040" y="1512570"/>
            <a:ext cx="520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(A)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372225" y="1512570"/>
            <a:ext cx="4705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(B)</a:t>
            </a:r>
            <a:endParaRPr lang="en-US"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95580" y="5386070"/>
            <a:ext cx="57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EV: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74040" y="4266565"/>
            <a:ext cx="5765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(A)</a:t>
            </a:r>
            <a:endParaRPr 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285865" y="4266565"/>
            <a:ext cx="5568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(B)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6460" y="475615"/>
            <a:ext cx="8057515" cy="27343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60" y="3488690"/>
            <a:ext cx="8057515" cy="29565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7655" y="3120390"/>
            <a:ext cx="730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Grid: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90955" y="553085"/>
            <a:ext cx="58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290955" y="3613150"/>
            <a:ext cx="5473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(B)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r="6878"/>
          <a:stretch>
            <a:fillRect/>
          </a:stretch>
        </p:blipFill>
        <p:spPr>
          <a:xfrm>
            <a:off x="1082040" y="584200"/>
            <a:ext cx="4955540" cy="23571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2785"/>
          <a:stretch>
            <a:fillRect/>
          </a:stretch>
        </p:blipFill>
        <p:spPr>
          <a:xfrm>
            <a:off x="6831330" y="584200"/>
            <a:ext cx="4953635" cy="23571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4305" y="1623060"/>
            <a:ext cx="75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Load: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08305" y="584200"/>
            <a:ext cx="57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189345" y="713740"/>
            <a:ext cx="622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3511550"/>
            <a:ext cx="4938395" cy="286067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236855" y="3613150"/>
            <a:ext cx="594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330" y="3511550"/>
            <a:ext cx="4953000" cy="286004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6188710" y="3613150"/>
            <a:ext cx="604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2860" y="4878070"/>
            <a:ext cx="9626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Battery: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Benefits to Users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Prevent Downtime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Catch issues before they cause failures.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 Costs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Optimize energy use and reduce peak demand charges.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Simplify Operations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Plain-English diagnostics reduce troubleshooting time.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Improve Sustainability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Lower emissions through intelligent scheduling.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of Solution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Architecture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Can handle data from a single building to a city-wide grid.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Easy to add new asset types (e.g., new inverter models, EV chargers).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Backend costs scale linearly with usage.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IN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 Achievements &amp; </a:t>
            </a:r>
            <a:r>
              <a:rPr lang="en-IN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Deliverables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Diagnostics Module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Clear health indices &amp; plain-English insights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Alerts &amp; Advisory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Actionable recommendations with priorities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Unified Dashboard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- Live monitoring, alerts, and energy flows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Future Plan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2.0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Enhanced AI with Ensemble Methods for superior accuracy and longer asset life.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Grid Resilience 2.0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VOTI Technology for advanced Voltage, Oscillation, and Transient Instability analysis.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Weather Integration: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Forecast-driven energy optimization.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Mobile Technician App: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alerts and diagnostics on-the-go.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 Integration: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Peer-to-peer energy trading capabilities.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571500" indent="-571500">
              <a:buFont typeface="Wingdings" panose="05000000000000000000" charset="0"/>
              <a:buChar char="v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VidyutAI EMS transforms energy management from reactive to predictive.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deliver intelligent microgrid control through real-time IoT analytics and AI-powered optimization.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are ready to build the future of energy.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116705" y="2921635"/>
            <a:ext cx="438721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900"/>
              </a:spcBef>
              <a:spcAft>
                <a:spcPts val="900"/>
              </a:spcAft>
            </a:pPr>
            <a:r>
              <a:rPr sz="6000" b="1" i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Thank You!</a:t>
            </a:r>
            <a:r>
              <a:rPr lang="en-US" sz="6000" b="1" i="0">
                <a:solidFill>
                  <a:srgbClr val="0F1115"/>
                </a:solidFill>
                <a:latin typeface="Times New Roman" panose="02020603050405020304" pitchFamily="18" charset="0"/>
                <a:ea typeface="quote-cjk-patch"/>
                <a:cs typeface="Times New Roman" panose="02020603050405020304" pitchFamily="18" charset="0"/>
              </a:rPr>
              <a:t> </a:t>
            </a:r>
            <a:endParaRPr lang="en-US" sz="6000" b="1" i="0">
              <a:solidFill>
                <a:srgbClr val="0F1115"/>
              </a:solidFill>
              <a:latin typeface="Times New Roman" panose="02020603050405020304" pitchFamily="18" charset="0"/>
              <a:ea typeface="quote-cjk-patch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3232</Words>
  <Application>WPS Presentation</Application>
  <PresentationFormat>Widescreen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Wingdings</vt:lpstr>
      <vt:lpstr>quote-cjk-patch</vt:lpstr>
      <vt:lpstr>AMGDT</vt:lpstr>
      <vt:lpstr>Calibri Light</vt:lpstr>
      <vt:lpstr>Calibri</vt:lpstr>
      <vt:lpstr>Microsoft YaHei</vt:lpstr>
      <vt:lpstr>Arial Unicode MS</vt:lpstr>
      <vt:lpstr>Office Theme</vt:lpstr>
      <vt:lpstr>Next-Gen EMS: Smart Energy Management System (EMS) with Real-Time Monitoring</vt:lpstr>
      <vt:lpstr>Introduction of team</vt:lpstr>
      <vt:lpstr>The Challenge: Modern Energy Management Problems</vt:lpstr>
      <vt:lpstr>Why It's Worthy of Solving</vt:lpstr>
      <vt:lpstr>Our Solution: VidyutAI Smart EMS</vt:lpstr>
      <vt:lpstr>PowerPoint 演示文稿</vt:lpstr>
      <vt:lpstr>Technical Aspects &amp; Feasibility of Solution</vt:lpstr>
      <vt:lpstr>PowerPoint 演示文稿</vt:lpstr>
      <vt:lpstr>PowerPoint 演示文稿</vt:lpstr>
      <vt:lpstr>PowerPoint 演示文稿</vt:lpstr>
      <vt:lpstr>Live Demo - Unified Dashboard</vt:lpstr>
      <vt:lpstr>PowerPoint 演示文稿</vt:lpstr>
      <vt:lpstr>PowerPoint 演示文稿</vt:lpstr>
      <vt:lpstr>Benefits to Users</vt:lpstr>
      <vt:lpstr>Scalability of Solution</vt:lpstr>
      <vt:lpstr>Key Achievements &amp; Deliverables</vt:lpstr>
      <vt:lpstr> Future Plan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Himani Prajapati</cp:lastModifiedBy>
  <cp:revision>65</cp:revision>
  <dcterms:created xsi:type="dcterms:W3CDTF">2025-10-04T10:43:00Z</dcterms:created>
  <dcterms:modified xsi:type="dcterms:W3CDTF">2025-10-05T06:04:18Z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3275B670A61D43AA9C66F82F6243B6D5_13</vt:lpwstr>
  </property>
  <property fmtid="{D5CDD505-2E9C-101B-9397-08002B2CF9AE}" pid="3" name="KSOProductBuildVer">
    <vt:lpwstr>1033-12.2.0.22549</vt:lpwstr>
  </property>
</Properties>
</file>